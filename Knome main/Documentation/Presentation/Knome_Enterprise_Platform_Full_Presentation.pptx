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1645920"/>
            <a:ext cx="137160" cy="32918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1463040"/>
            <a:ext cx="9601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EA5E9"/>
                </a:solidFill>
              </a:defRPr>
            </a:pPr>
            <a:r>
              <a:t>MPONLINE LIMITED</a:t>
            </a:r>
          </a:p>
          <a:p>
            <a:pPr>
              <a:spcAft>
                <a:spcPts val="1200"/>
              </a:spcAft>
              <a:defRPr sz="3800" b="1">
                <a:solidFill>
                  <a:srgbClr val="F1F5F9"/>
                </a:solidFill>
              </a:defRPr>
            </a:pPr>
            <a:r>
              <a:t>KNOME Enterprise Platform</a:t>
            </a:r>
          </a:p>
          <a:p>
            <a:pPr>
              <a:spcAft>
                <a:spcPts val="2400"/>
              </a:spcAft>
              <a:defRPr sz="1800">
                <a:solidFill>
                  <a:srgbClr val="CBD5E1"/>
                </a:solidFill>
              </a:defRPr>
            </a:pPr>
            <a:r>
              <a:t>Next-Generation Knowledge Management, Media Streaming &amp; Collaborative Workspace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Comprehensive Architectural Walkthrough, Core Functional Modules &amp; Governance Deep Dive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280160" y="5303520"/>
            <a:ext cx="1920240" cy="38404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950" b="1">
                <a:solidFill>
                  <a:srgbClr val="F1F5F9"/>
                </a:solidFill>
              </a:defRPr>
            </a:pPr>
            <a:r>
              <a:t>ASP.NET Core 10 Web API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10128" y="5303520"/>
            <a:ext cx="1920240" cy="38404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950" b="1">
                <a:solidFill>
                  <a:srgbClr val="F1F5F9"/>
                </a:solidFill>
              </a:defRPr>
            </a:pPr>
            <a:r>
              <a:t>React 19 / Vite / TypeScript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40096" y="5303520"/>
            <a:ext cx="1920240" cy="38404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950" b="1">
                <a:solidFill>
                  <a:srgbClr val="F1F5F9"/>
                </a:solidFill>
              </a:defRPr>
            </a:pPr>
            <a:r>
              <a:t>Microsoft SQL Server 2022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70064" y="5303520"/>
            <a:ext cx="1920240" cy="38404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950" b="1">
                <a:solidFill>
                  <a:srgbClr val="F1F5F9"/>
                </a:solidFill>
              </a:defRPr>
            </a:pPr>
            <a:r>
              <a:t>SignalR Real-Time Hub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400032" y="5303520"/>
            <a:ext cx="1920240" cy="38404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950" b="1">
                <a:solidFill>
                  <a:srgbClr val="F1F5F9"/>
                </a:solidFill>
              </a:defRPr>
            </a:pPr>
            <a:r>
              <a:t>EmployeeHub Dual-Issuer SSO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EXECUTIVE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6984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Bridging Institutional Knowledge &amp; Modern Collaboration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6984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Why Knome was architected for MPOnline Limited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00800"/>
            <a:ext cx="10728655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73952"/>
            <a:ext cx="7315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KNOME Enterprise Platform — MPOnline Limited  |  Confidential &amp; Proprietary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73952"/>
            <a:ext cx="1828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 b="1">
                <a:solidFill>
                  <a:srgbClr val="2563EB"/>
                </a:solidFill>
              </a:defRPr>
            </a:pPr>
            <a:r>
              <a:t>Slide 2 of 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280160"/>
            <a:ext cx="512064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46304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E11D48"/>
                </a:solidFill>
              </a:defRPr>
            </a:pPr>
            <a:r>
              <a:t>CHALLENGES IN ENTERPRISE KNOWLEDGE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F172A"/>
                </a:solidFill>
              </a:rPr>
              <a:t>• Information Silos:</a:t>
            </a:r>
            <a:r>
              <a:rPr sz="1050">
                <a:solidFill>
                  <a:srgbClr val="64748B"/>
                </a:solidFill>
              </a:rPr>
              <a:t> Critical technical solutions and project SOPs remained trapped in isolated departmental hard drives and email threads.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F172A"/>
                </a:solidFill>
              </a:rPr>
              <a:t>• Onboarding Delays:</a:t>
            </a:r>
            <a:r>
              <a:rPr sz="1050">
                <a:solidFill>
                  <a:srgbClr val="64748B"/>
                </a:solidFill>
              </a:rPr>
              <a:t> New recruits faced steep learning curves navigating fragmented documentation without centralized media.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F172A"/>
                </a:solidFill>
              </a:rPr>
              <a:t>• No Unified Media Portal:</a:t>
            </a:r>
            <a:r>
              <a:rPr sz="1050">
                <a:solidFill>
                  <a:srgbClr val="64748B"/>
                </a:solidFill>
              </a:rPr>
              <a:t> Lack of an enterprise-grade platform for hosting MPOnline tech talks, architectural videos, and audio podcasts.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F172A"/>
                </a:solidFill>
              </a:rPr>
              <a:t>• Passive Knowledge Sharing:</a:t>
            </a:r>
            <a:r>
              <a:rPr sz="1050">
                <a:solidFill>
                  <a:srgbClr val="64748B"/>
                </a:solidFill>
              </a:rPr>
              <a:t> No incentive or gamification system to encourage senior engineers to document edge cases and mentor peers.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F172A"/>
                </a:solidFill>
              </a:rPr>
              <a:t>• Security &amp; Compliance Gaps:</a:t>
            </a:r>
            <a:r>
              <a:rPr sz="1050">
                <a:solidFill>
                  <a:srgbClr val="64748B"/>
                </a:solidFill>
              </a:rPr>
              <a:t> Unregulated document downloads and external file sharing posed governance and IP leakage risks.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280160"/>
            <a:ext cx="521208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463040"/>
            <a:ext cx="4663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2563EB"/>
                </a:solidFill>
              </a:defRPr>
            </a:pPr>
            <a:r>
              <a:t>THE KNOME TRANSFORMATION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2563EB"/>
                </a:solidFill>
              </a:rPr>
              <a:t>✔ Unified 4-in-1 Ecosystem:</a:t>
            </a:r>
            <a:r>
              <a:rPr sz="1050">
                <a:solidFill>
                  <a:srgbClr val="64748B"/>
                </a:solidFill>
              </a:rPr>
              <a:t> Combines social networking, rich technical publishing, video/audio media, and gamified karma into a single portal.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2563EB"/>
                </a:solidFill>
              </a:rPr>
              <a:t>✔ Seamless EmployeeHub SSO:</a:t>
            </a:r>
            <a:r>
              <a:rPr sz="1050">
                <a:solidFill>
                  <a:srgbClr val="64748B"/>
                </a:solidFill>
              </a:rPr>
              <a:t> Zero-friction login with enterprise-wide Single Sign-On and dual-issuer JWT token trust.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2563EB"/>
                </a:solidFill>
              </a:rPr>
              <a:t>✔ Curated Media Studio:</a:t>
            </a:r>
            <a:r>
              <a:rPr sz="1050">
                <a:solidFill>
                  <a:srgbClr val="64748B"/>
                </a:solidFill>
              </a:rPr>
              <a:t> Dedicated video streaming, YouTube playlist auto-sync, and episode-based podcast channels.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2563EB"/>
                </a:solidFill>
              </a:rPr>
              <a:t>✔ Gamified Karma Engine:</a:t>
            </a:r>
            <a:r>
              <a:rPr sz="1050">
                <a:solidFill>
                  <a:srgbClr val="64748B"/>
                </a:solidFill>
              </a:rPr>
              <a:t> Autonomous SQL point ledger rewarding articles (+10), videos (+8), posts (+2), and peer recognition (+1 to +3).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2563EB"/>
                </a:solidFill>
              </a:rPr>
              <a:t>✔ Enterprise-Grade Protection:</a:t>
            </a:r>
            <a:r>
              <a:rPr sz="1050">
                <a:solidFill>
                  <a:srgbClr val="64748B"/>
                </a:solidFill>
              </a:rPr>
              <a:t> In-app sandboxed PDF viewing with zero raw download links and immutable SQL audit logs.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CORE PRODUCT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6984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The 4-in-1 Hybrid Enterprise Ecosystem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6984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Synthesizing the best paradigms of premier consumer platforms into a private corporate intranet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00800"/>
            <a:ext cx="10728655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73952"/>
            <a:ext cx="7315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KNOME Enterprise Platform — MPOnline Limited  |  Confidential &amp; Proprietary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73952"/>
            <a:ext cx="1828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 b="1">
                <a:solidFill>
                  <a:srgbClr val="2563EB"/>
                </a:solidFill>
              </a:defRPr>
            </a:pPr>
            <a:r>
              <a:t>Slide 3 of 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280160"/>
            <a:ext cx="251460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68680" y="1417320"/>
            <a:ext cx="2240280" cy="7772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LinkedIn Model</a:t>
            </a:r>
          </a:p>
          <a:p>
            <a:pPr algn="ctr">
              <a:defRPr sz="950">
                <a:solidFill>
                  <a:srgbClr val="F1F5F9"/>
                </a:solidFill>
              </a:defRPr>
            </a:pPr>
            <a:r>
              <a:t>Social Networking &amp; Feed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331720"/>
            <a:ext cx="22402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</a:defRPr>
            </a:pPr>
            <a:r>
              <a:t>• Employee professional profiles &amp; roles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</a:defRPr>
            </a:pPr>
            <a:r>
              <a:t>• Follow colleagues &amp; departmental peers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</a:defRPr>
            </a:pPr>
            <a:r>
              <a:t>• Rich interactive activity timeline feed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</a:defRPr>
            </a:pPr>
            <a:r>
              <a:t>• Connection requests &amp; status alerts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</a:defRPr>
            </a:pPr>
            <a:r>
              <a:t>• Multi-format post sharing &amp; mentions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29000" y="1280160"/>
            <a:ext cx="251460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566160" y="1417320"/>
            <a:ext cx="2240280" cy="77724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Medium Model</a:t>
            </a:r>
          </a:p>
          <a:p>
            <a:pPr algn="ctr">
              <a:defRPr sz="950">
                <a:solidFill>
                  <a:srgbClr val="F1F5F9"/>
                </a:solidFill>
              </a:defRPr>
            </a:pPr>
            <a:r>
              <a:t>Long-Form Knowledge Base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2331720"/>
            <a:ext cx="22402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</a:defRPr>
            </a:pPr>
            <a:r>
              <a:t>• Rich WYSIWYG documentation editor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</a:defRPr>
            </a:pPr>
            <a:r>
              <a:t>• Full revision history &amp; author tracking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</a:defRPr>
            </a:pPr>
            <a:r>
              <a:t>• Tag-based discovery &amp; category filters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</a:defRPr>
            </a:pPr>
            <a:r>
              <a:t>• Sandboxed in-app PDF document reader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</a:defRPr>
            </a:pPr>
            <a:r>
              <a:t>• Departmental SOPs &amp; technical blueprints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1280160"/>
            <a:ext cx="251460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63640" y="1417320"/>
            <a:ext cx="2240280" cy="77724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YouTube Model</a:t>
            </a:r>
          </a:p>
          <a:p>
            <a:pPr algn="ctr">
              <a:defRPr sz="950">
                <a:solidFill>
                  <a:srgbClr val="F1F5F9"/>
                </a:solidFill>
              </a:defRPr>
            </a:pPr>
            <a:r>
              <a:t>Media Studio &amp; Podcasts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2331720"/>
            <a:ext cx="22402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</a:defRPr>
            </a:pPr>
            <a:r>
              <a:t>• Self-hosted high-definition video streaming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</a:defRPr>
            </a:pPr>
            <a:r>
              <a:t>• Automated YouTube playlist sync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</a:defRPr>
            </a:pPr>
            <a:r>
              <a:t>• Audio podcast channels with player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</a:defRPr>
            </a:pPr>
            <a:r>
              <a:t>• Episode transcripts &amp; speaker tags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</a:defRPr>
            </a:pPr>
            <a:r>
              <a:t>• Timestamped comments &amp; user bookmarks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23960" y="1280160"/>
            <a:ext cx="251460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961120" y="1417320"/>
            <a:ext cx="2240280" cy="77724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StackOverflow Model</a:t>
            </a:r>
          </a:p>
          <a:p>
            <a:pPr algn="ctr">
              <a:defRPr sz="950">
                <a:solidFill>
                  <a:srgbClr val="F1F5F9"/>
                </a:solidFill>
              </a:defRPr>
            </a:pPr>
            <a:r>
              <a:t>Karma Engine &amp; Gamification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0" y="2331720"/>
            <a:ext cx="22402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</a:defRPr>
            </a:pPr>
            <a:r>
              <a:t>• Autonomous SQL Server point ledger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</a:defRPr>
            </a:pPr>
            <a:r>
              <a:t>• Tier progression (Bronze to Platinum)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</a:defRPr>
            </a:pPr>
            <a:r>
              <a:t>• Live real-time company leaderboard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</a:defRPr>
            </a:pPr>
            <a:r>
              <a:t>• Automated badges &amp; achievement awards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</a:defRPr>
            </a:pPr>
            <a:r>
              <a:t>• Peer recognition &amp; upvote incentives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6984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6-Layer Full-Stack Enterprise Blueprint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6984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High performance, zero-leakage, and modular ASP.NET Core 10 &amp; React 19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00800"/>
            <a:ext cx="10728655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73952"/>
            <a:ext cx="7315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KNOME Enterprise Platform — MPOnline Limited  |  Confidential &amp; Proprietary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73952"/>
            <a:ext cx="1828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 b="1">
                <a:solidFill>
                  <a:srgbClr val="2563EB"/>
                </a:solidFill>
              </a:defRPr>
            </a:pPr>
            <a:r>
              <a:t>Slide 4 of 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280160"/>
            <a:ext cx="10728655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280160"/>
            <a:ext cx="182880" cy="7315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1371600"/>
            <a:ext cx="10149840" cy="5486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b="1" sz="1200">
                <a:solidFill>
                  <a:srgbClr val="2563EB"/>
                </a:solidFill>
              </a:rPr>
              <a:t>Layer 1: Presentation Tier  —  </a:t>
            </a:r>
            <a:r>
              <a:rPr sz="1050">
                <a:solidFill>
                  <a:srgbClr val="0F172A"/>
                </a:solidFill>
              </a:rPr>
              <a:t>React 19, Vite HMR, TypeScript / JSX, Tailwind UI Design Tokens, Responsive Desktop/Tablet Layouts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103120"/>
            <a:ext cx="10728655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2103120"/>
            <a:ext cx="182880" cy="7315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2194560"/>
            <a:ext cx="10149840" cy="5486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b="1" sz="1200">
                <a:solidFill>
                  <a:srgbClr val="0EA5E9"/>
                </a:solidFill>
              </a:rPr>
              <a:t>Layer 2: API Gateway &amp; Security  —  </a:t>
            </a:r>
            <a:r>
              <a:rPr sz="1050">
                <a:solidFill>
                  <a:srgbClr val="0F172A"/>
                </a:solidFill>
              </a:rPr>
              <a:t>YARP Reverse Proxy, Dual-Issuer JWT HS256 Authentication Middleware, RBAC Claim Evaluators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2926079"/>
            <a:ext cx="10728655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2926079"/>
            <a:ext cx="182880" cy="7315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3017520"/>
            <a:ext cx="10149840" cy="5486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b="1" sz="1200">
                <a:solidFill>
                  <a:srgbClr val="0D9488"/>
                </a:solidFill>
              </a:rPr>
              <a:t>Layer 3: Application Controllers  —  </a:t>
            </a:r>
            <a:r>
              <a:rPr sz="1050">
                <a:solidFill>
                  <a:srgbClr val="0F172A"/>
                </a:solidFill>
              </a:rPr>
              <a:t>14 RESTful Controllers, FluentValidation Pipeline, ApiResponse&lt;T&gt; Standardized Envelopes, Swagger OpenAPI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749039"/>
            <a:ext cx="10728655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" y="3749039"/>
            <a:ext cx="182880" cy="7315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3840479"/>
            <a:ext cx="10149840" cy="5486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b="1" sz="1200">
                <a:solidFill>
                  <a:srgbClr val="7C3AED"/>
                </a:solidFill>
              </a:rPr>
              <a:t>Layer 4: Business Logic &amp; Services  —  </a:t>
            </a:r>
            <a:r>
              <a:rPr sz="1050">
                <a:solidFill>
                  <a:srgbClr val="0F172A"/>
                </a:solidFill>
              </a:rPr>
              <a:t>12 Modular Services (Article, Video, Podcast, Community, Karma, Notification, Analytics, Audit)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572000"/>
            <a:ext cx="10728655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" y="4572000"/>
            <a:ext cx="182880" cy="7315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4663440"/>
            <a:ext cx="10149840" cy="5486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b="1" sz="1200">
                <a:solidFill>
                  <a:srgbClr val="D97706"/>
                </a:solidFill>
              </a:rPr>
              <a:t>Layer 5: Real-Time Communication  —  </a:t>
            </a:r>
            <a:r>
              <a:rPr sz="1050">
                <a:solidFill>
                  <a:srgbClr val="0F172A"/>
                </a:solidFill>
              </a:rPr>
              <a:t>SignalR WebSocket Hub (/hubs/notifications), LIFO Instant Push Delivery, Role &amp; Community Live Signals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5394960"/>
            <a:ext cx="10728655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1520" y="5394960"/>
            <a:ext cx="182880" cy="73152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97280" y="5486400"/>
            <a:ext cx="10149840" cy="5486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b="1" sz="1200">
                <a:solidFill>
                  <a:srgbClr val="334155"/>
                </a:solidFill>
              </a:rPr>
              <a:t>Layer 6: Persistence &amp; Storage  —  </a:t>
            </a:r>
            <a:r>
              <a:rPr sz="1050">
                <a:solidFill>
                  <a:srgbClr val="0F172A"/>
                </a:solidFill>
              </a:rPr>
              <a:t>Microsoft SQL Server 2022, EF Core 10 Live Scaffolding, Local Protected File Storage Service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6984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Visual Architecture &amp; Component Integration Diagram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6984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Complete end-to-end integration between EmployeeHub, Knome Web, and Backend Services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00800"/>
            <a:ext cx="10728655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73952"/>
            <a:ext cx="7315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KNOME Enterprise Platform — MPOnline Limited  |  Confidential &amp; Proprietary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73952"/>
            <a:ext cx="1828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 b="1">
                <a:solidFill>
                  <a:srgbClr val="2563EB"/>
                </a:solidFill>
              </a:defRPr>
            </a:pPr>
            <a:r>
              <a:t>Slide 5 of 16</a:t>
            </a:r>
          </a:p>
        </p:txBody>
      </p:sp>
      <p:pic>
        <p:nvPicPr>
          <p:cNvPr id="9" name="Picture 8" descr="Knome_Solution_Architecture_Upda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34440"/>
            <a:ext cx="10728655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IDENTITY &amp;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6984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EmployeeHub Single Sign-On (SSO) &amp; Dual-Issuer Trust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6984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Cryptographically verified cross-portal zero-click login with HMAC-SHA256 signature verification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00800"/>
            <a:ext cx="10728655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73952"/>
            <a:ext cx="7315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KNOME Enterprise Platform — MPOnline Limited  |  Confidential &amp; Proprietary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73952"/>
            <a:ext cx="1828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 b="1">
                <a:solidFill>
                  <a:srgbClr val="2563EB"/>
                </a:solidFill>
              </a:defRPr>
            </a:pPr>
            <a:r>
              <a:t>Slide 6 of 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280160"/>
            <a:ext cx="329184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463040"/>
            <a:ext cx="2926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50" b="1">
                <a:solidFill>
                  <a:srgbClr val="2563EB"/>
                </a:solidFill>
              </a:defRPr>
            </a:pPr>
            <a:r>
              <a:t>1. AUTHENTICATION &amp; TOKEN ISSUANCE</a:t>
            </a:r>
          </a:p>
          <a:p>
            <a:pPr>
              <a:spcAft>
                <a:spcPts val="800"/>
              </a:spcAft>
              <a:defRPr sz="1000">
                <a:solidFill>
                  <a:srgbClr val="0F172A"/>
                </a:solidFill>
              </a:defRPr>
            </a:pPr>
            <a:r>
              <a:t>• Employee accesses EmployeeHub Identity Portal (`:5001`).</a:t>
            </a:r>
          </a:p>
          <a:p>
            <a:pPr>
              <a:spcAft>
                <a:spcPts val="800"/>
              </a:spcAft>
              <a:defRPr sz="1000">
                <a:solidFill>
                  <a:srgbClr val="0F172A"/>
                </a:solidFill>
              </a:defRPr>
            </a:pPr>
            <a:r>
              <a:t>• Enters Employee ID and corporate credentials.</a:t>
            </a:r>
          </a:p>
          <a:p>
            <a:pPr>
              <a:spcAft>
                <a:spcPts val="800"/>
              </a:spcAft>
              <a:defRPr sz="1000">
                <a:solidFill>
                  <a:srgbClr val="0F172A"/>
                </a:solidFill>
              </a:defRPr>
            </a:pPr>
            <a:r>
              <a:t>• EmployeeHub validates against corporate Identity DB.</a:t>
            </a:r>
          </a:p>
          <a:p>
            <a:pPr>
              <a:spcAft>
                <a:spcPts val="800"/>
              </a:spcAft>
              <a:defRPr sz="1000">
                <a:solidFill>
                  <a:srgbClr val="0F172A"/>
                </a:solidFill>
              </a:defRPr>
            </a:pPr>
            <a:r>
              <a:t>• Issues HMAC-SHA256 signed JWT token containing claims: `sub`, `employeeId`, `fullName`, `role`.</a:t>
            </a:r>
          </a:p>
          <a:p>
            <a:pPr>
              <a:spcAft>
                <a:spcPts val="800"/>
              </a:spcAft>
              <a:defRPr sz="1000">
                <a:solidFill>
                  <a:srgbClr val="0F172A"/>
                </a:solidFill>
              </a:defRPr>
            </a:pPr>
            <a:r>
              <a:t>• Redirects user to Knome: `http://localhost:5173/?sso_token=&lt;JWT&gt;&amp;employeeId=MPO103`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280160"/>
            <a:ext cx="329184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463040"/>
            <a:ext cx="2926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50" b="1">
                <a:solidFill>
                  <a:srgbClr val="0D9488"/>
                </a:solidFill>
              </a:defRPr>
            </a:pPr>
            <a:r>
              <a:t>2. FRONTEND URL INTERCEPTION</a:t>
            </a:r>
          </a:p>
          <a:p>
            <a:pPr>
              <a:spcAft>
                <a:spcPts val="800"/>
              </a:spcAft>
              <a:defRPr sz="1000">
                <a:solidFill>
                  <a:srgbClr val="0F172A"/>
                </a:solidFill>
              </a:defRPr>
            </a:pPr>
            <a:r>
              <a:t>• Knome React `UserContext.jsx` intercepts `sso_token` and `employeeId` from window query params.</a:t>
            </a:r>
          </a:p>
          <a:p>
            <a:pPr>
              <a:spcAft>
                <a:spcPts val="800"/>
              </a:spcAft>
              <a:defRPr sz="1000">
                <a:solidFill>
                  <a:srgbClr val="0F172A"/>
                </a:solidFill>
              </a:defRPr>
            </a:pPr>
            <a:r>
              <a:t>• Stores securely in browser `localStorage` under `knome_jwt` and `knome_employeeId` keys.</a:t>
            </a:r>
          </a:p>
          <a:p>
            <a:pPr>
              <a:spcAft>
                <a:spcPts val="800"/>
              </a:spcAft>
              <a:defRPr sz="1000">
                <a:solidFill>
                  <a:srgbClr val="0F172A"/>
                </a:solidFill>
              </a:defRPr>
            </a:pPr>
            <a:r>
              <a:t>• Cleans the browser address bar instantly using `window.history.replaceState` to prevent token leakage.</a:t>
            </a:r>
          </a:p>
          <a:p>
            <a:pPr>
              <a:spcAft>
                <a:spcPts val="800"/>
              </a:spcAft>
              <a:defRPr sz="1000">
                <a:solidFill>
                  <a:srgbClr val="0F172A"/>
                </a:solidFill>
              </a:defRPr>
            </a:pPr>
            <a:r>
              <a:t>• Initializes authenticated user session state and triggers SignalR real-time notification subscription.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280160"/>
            <a:ext cx="3413455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1463040"/>
            <a:ext cx="3017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50" b="1">
                <a:solidFill>
                  <a:srgbClr val="7C3AED"/>
                </a:solidFill>
              </a:defRPr>
            </a:pPr>
            <a:r>
              <a:t>3. BACKEND DUAL-ISSUER TRUST</a:t>
            </a:r>
          </a:p>
          <a:p>
            <a:pPr>
              <a:spcAft>
                <a:spcPts val="800"/>
              </a:spcAft>
              <a:defRPr sz="1000">
                <a:solidFill>
                  <a:srgbClr val="0F172A"/>
                </a:solidFill>
              </a:defRPr>
            </a:pPr>
            <a:r>
              <a:t>• ASP.NET Core API Dual-Issuer JWT Bearer middleware validates token signatures in-memory.</a:t>
            </a:r>
          </a:p>
          <a:p>
            <a:pPr>
              <a:spcAft>
                <a:spcPts val="800"/>
              </a:spcAft>
              <a:defRPr sz="1000">
                <a:solidFill>
                  <a:srgbClr val="0F172A"/>
                </a:solidFill>
              </a:defRPr>
            </a:pPr>
            <a:r>
              <a:t>• ValidIssuers: `["Knome.API", "EmployeeHub.Identity"]`</a:t>
            </a:r>
          </a:p>
          <a:p>
            <a:pPr>
              <a:spcAft>
                <a:spcPts val="800"/>
              </a:spcAft>
              <a:defRPr sz="1000">
                <a:solidFill>
                  <a:srgbClr val="0F172A"/>
                </a:solidFill>
              </a:defRPr>
            </a:pPr>
            <a:r>
              <a:t>• ValidAudiences: `["Knome.Client", "EmployeeHub.Client"]`</a:t>
            </a:r>
          </a:p>
          <a:p>
            <a:pPr>
              <a:spcAft>
                <a:spcPts val="800"/>
              </a:spcAft>
              <a:defRPr sz="1000">
                <a:solidFill>
                  <a:srgbClr val="0F172A"/>
                </a:solidFill>
              </a:defRPr>
            </a:pPr>
            <a:r>
              <a:t>• Zero external HTTP round-trips needed for token verification — instant sub-millisecond execution!</a:t>
            </a:r>
          </a:p>
          <a:p>
            <a:pPr>
              <a:spcAft>
                <a:spcPts val="800"/>
              </a:spcAft>
              <a:defRPr sz="1000">
                <a:solidFill>
                  <a:srgbClr val="0F172A"/>
                </a:solidFill>
              </a:defRPr>
            </a:pPr>
            <a:r>
              <a:t>• Automatic fallback to Knome native auth if standalone login is used.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KNOWLEDGE MANAGEMENT (MEDIUM MODEL)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6984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Rich Articles, Documentation &amp; SOP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6984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Empowering engineering teams to create, preserve, and search institutional knowledge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00800"/>
            <a:ext cx="10728655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73952"/>
            <a:ext cx="7315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KNOME Enterprise Platform — MPOnline Limited  |  Confidential &amp; Proprietary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73952"/>
            <a:ext cx="1828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 b="1">
                <a:solidFill>
                  <a:srgbClr val="2563EB"/>
                </a:solidFill>
              </a:defRPr>
            </a:pPr>
            <a:r>
              <a:t>Slide 7 of 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280160"/>
            <a:ext cx="10728655" cy="1097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280160"/>
            <a:ext cx="137160" cy="10972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1417319"/>
            <a:ext cx="10149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2563EB"/>
                </a:solidFill>
              </a:defRPr>
            </a:pPr>
            <a:r>
              <a:t>Rich WYSIWYG &amp; Markdown Authoring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Multi-format publishing supporting embedded code syntax highlighting, formatted data tables, dynamic callouts, and multi-image attachments.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514600"/>
            <a:ext cx="10728655" cy="1097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2514600"/>
            <a:ext cx="137160" cy="10972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2651760"/>
            <a:ext cx="10149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D9488"/>
                </a:solidFill>
              </a:defRPr>
            </a:pPr>
            <a:r>
              <a:t>Immutable Revision History &amp; Versioning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Every article edit creates a trackable historical snapshot with author attribution, diff view capability, and rollback safety.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749039"/>
            <a:ext cx="10728655" cy="1097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3749039"/>
            <a:ext cx="137160" cy="10972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3886200"/>
            <a:ext cx="10149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D97706"/>
                </a:solidFill>
              </a:defRPr>
            </a:pPr>
            <a:r>
              <a:t>Cross-Departmental Discovery &amp; Tagging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Taxonomy-driven categorization by Department (Finance, IT, Operations, Civil), custom technology tags, and full-text keyword indexing.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983479"/>
            <a:ext cx="10728655" cy="1097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" y="4983479"/>
            <a:ext cx="137160" cy="10972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5120640"/>
            <a:ext cx="10149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7C3AED"/>
                </a:solidFill>
              </a:defRPr>
            </a:pPr>
            <a:r>
              <a:t>In-App Sandboxed PDF SOP Viewer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Technical manuals, standard operating procedures, and architecture PDFs open inside a sandboxed reader with print, save, and download ribbons suppressed.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MEDIA STUDIO (YOUTUBE MODEL)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6984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Enterprise Video Streaming &amp; Technical Podcasts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6984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Centralized audio/video repository for MPOnline tech talks, architectural deep dives, and tutorials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00800"/>
            <a:ext cx="10728655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73952"/>
            <a:ext cx="7315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KNOME Enterprise Platform — MPOnline Limited  |  Confidential &amp; Proprietary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73952"/>
            <a:ext cx="1828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 b="1">
                <a:solidFill>
                  <a:srgbClr val="2563EB"/>
                </a:solidFill>
              </a:defRPr>
            </a:pPr>
            <a:r>
              <a:t>Slide 8 of 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280160"/>
            <a:ext cx="512064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46304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2563EB"/>
                </a:solidFill>
              </a:defRPr>
            </a:pPr>
            <a:r>
              <a:t>VIDEO STREAMING &amp; YOUTUBE SYNC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2563EB"/>
                </a:solidFill>
              </a:rPr>
              <a:t>▶ High-Definition Video Streaming:</a:t>
            </a:r>
            <a:r>
              <a:rPr sz="1000">
                <a:solidFill>
                  <a:srgbClr val="64748B"/>
                </a:solidFill>
              </a:rPr>
              <a:t> Direct in-app playback with responsive HTML5 video player and adaptive buffering.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2563EB"/>
                </a:solidFill>
              </a:rPr>
              <a:t>▶ YouTube Playlist Synchronization:</a:t>
            </a:r>
            <a:r>
              <a:rPr sz="1000">
                <a:solidFill>
                  <a:srgbClr val="64748B"/>
                </a:solidFill>
              </a:rPr>
              <a:t> Ingests public and unlisted YouTube playlists with automatic title, duration, and thumbnail extraction.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2563EB"/>
                </a:solidFill>
              </a:rPr>
              <a:t>▶ Interactive Timestamp Comments:</a:t>
            </a:r>
            <a:r>
              <a:rPr sz="1000">
                <a:solidFill>
                  <a:srgbClr val="64748B"/>
                </a:solidFill>
              </a:rPr>
              <a:t> Employees can click timestamped comments (e.g. 03:45) to jump directly to specific segments.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2563EB"/>
                </a:solidFill>
              </a:rPr>
              <a:t>▶ Watch History &amp; Bookmarks:</a:t>
            </a:r>
            <a:r>
              <a:rPr sz="1000">
                <a:solidFill>
                  <a:srgbClr val="64748B"/>
                </a:solidFill>
              </a:rPr>
              <a:t> Personal watch history, 'Watch Later' queues, and curated departmental playlists.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2563EB"/>
                </a:solidFill>
              </a:rPr>
              <a:t>▶ Engagement Metrics:</a:t>
            </a:r>
            <a:r>
              <a:rPr sz="1000">
                <a:solidFill>
                  <a:srgbClr val="64748B"/>
                </a:solidFill>
              </a:rPr>
              <a:t> Live like/dislike counts, view counts, and karma awards for top video creators.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280160"/>
            <a:ext cx="521208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463040"/>
            <a:ext cx="4663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D97706"/>
                </a:solidFill>
              </a:defRPr>
            </a:pPr>
            <a:r>
              <a:t>ENTERPRISE AUDIO PODCAST CHANNELS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D97706"/>
                </a:solidFill>
              </a:rPr>
              <a:t>🎙 Persistent Background Audio Player:</a:t>
            </a:r>
            <a:r>
              <a:rPr sz="1000">
                <a:solidFill>
                  <a:srgbClr val="64748B"/>
                </a:solidFill>
              </a:rPr>
              <a:t> Listen to technical leadership podcasts while continuing to browse feeds or read articles.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D97706"/>
                </a:solidFill>
              </a:rPr>
              <a:t>🎙 Episode &amp; Channel Architecture:</a:t>
            </a:r>
            <a:r>
              <a:rPr sz="1000">
                <a:solidFill>
                  <a:srgbClr val="64748B"/>
                </a:solidFill>
              </a:rPr>
              <a:t> Structured audio channels with seasonal grouping, speaker attribution, and duration tags.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D97706"/>
                </a:solidFill>
              </a:rPr>
              <a:t>🎙 Audio Scrubbing &amp; Speed Controls:</a:t>
            </a:r>
            <a:r>
              <a:rPr sz="1000">
                <a:solidFill>
                  <a:srgbClr val="64748B"/>
                </a:solidFill>
              </a:rPr>
              <a:t> Variable playback speeds (0.75x, 1.0x, 1.25x, 1.5x, 2.0x) and 10s skip controls.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D97706"/>
                </a:solidFill>
              </a:rPr>
              <a:t>🎙 Searchable Episode Transcripts:</a:t>
            </a:r>
            <a:r>
              <a:rPr sz="1000">
                <a:solidFill>
                  <a:srgbClr val="64748B"/>
                </a:solidFill>
              </a:rPr>
              <a:t> In-app audio transcripts allowing keyword search across recorded technical talks.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D97706"/>
                </a:solidFill>
              </a:rPr>
              <a:t>🎙 Mobile &amp; Desktop Responsive:</a:t>
            </a:r>
            <a:r>
              <a:rPr sz="1000">
                <a:solidFill>
                  <a:srgbClr val="64748B"/>
                </a:solidFill>
              </a:rPr>
              <a:t> Optimized media player layout supporting desktop multitasking and mobile audio listening.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COMMUNITIES &amp; COLLABORATION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6984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Community Creation &amp; Admin Approval Lifecycle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6984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Structured community governance balancing employee initiative with corporate administrative oversight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00800"/>
            <a:ext cx="10728655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73952"/>
            <a:ext cx="7315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KNOME Enterprise Platform — MPOnline Limited  |  Confidential &amp; Proprietary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73952"/>
            <a:ext cx="1828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 b="1">
                <a:solidFill>
                  <a:srgbClr val="2563EB"/>
                </a:solidFill>
              </a:defRPr>
            </a:pPr>
            <a:r>
              <a:t>Slide 9 of 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280160"/>
            <a:ext cx="2514600" cy="3931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280160"/>
            <a:ext cx="2514600" cy="548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Step 1: Submission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011680"/>
            <a:ext cx="22402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</a:defRPr>
            </a:pPr>
            <a:r>
              <a:t>Employee submits community request specifying Name, Description, Category, Custom Rules, and Banner image.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29000" y="1280160"/>
            <a:ext cx="2514600" cy="3931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29000" y="1280160"/>
            <a:ext cx="2514600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Step 2: Review Queue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2011680"/>
            <a:ext cx="22402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</a:defRPr>
            </a:pPr>
            <a:r>
              <a:t>System marks community as 'Pending Approval' and dispatches real-time SignalR push notifications to HR &amp; SysAdmins.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1280160"/>
            <a:ext cx="2514600" cy="3931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26480" y="1280160"/>
            <a:ext cx="2514600" cy="5486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Step 3: Admin Review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2011680"/>
            <a:ext cx="22402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</a:defRPr>
            </a:pPr>
            <a:r>
              <a:t>Admins review submissions on the dedicated '/communities?tab=Approvals' dashboard with one-click Approve / Reject.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23960" y="1280160"/>
            <a:ext cx="2514600" cy="3931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823960" y="1280160"/>
            <a:ext cx="2514600" cy="5486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Step 4: Activation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0" y="2011680"/>
            <a:ext cx="22402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</a:defRPr>
            </a:pPr>
            <a:r>
              <a:t>On approval, community is published live, creator is automatically promoted to 'Community Admin', and broadcast alerts fire.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5394960"/>
            <a:ext cx="10728655" cy="8686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/>
            <a:r>
              <a:rPr b="1" sz="1100">
                <a:solidFill>
                  <a:srgbClr val="2563EB"/>
                </a:solidFill>
              </a:rPr>
              <a:t>Key Governance Benefit: </a:t>
            </a:r>
            <a:r>
              <a:rPr sz="1050">
                <a:solidFill>
                  <a:srgbClr val="0F172A"/>
                </a:solidFill>
              </a:rPr>
              <a:t>Ensures high-quality departmental spaces (e.g. Java Champions, DevSecOps, MPOnline Sports) while eliminating spam and orphaned groups.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GAMIFICATION (STACKOVERFLOW MODEL)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6984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Autonomous Karma Engine &amp; Contribution Tiers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6984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Incentivizing institutional knowledge sharing through automated SQL point awards and recognition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00800"/>
            <a:ext cx="10728655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73952"/>
            <a:ext cx="7315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KNOME Enterprise Platform — MPOnline Limited  |  Confidential &amp; Proprietary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73952"/>
            <a:ext cx="1828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 b="1">
                <a:solidFill>
                  <a:srgbClr val="2563EB"/>
                </a:solidFill>
              </a:defRPr>
            </a:pPr>
            <a:r>
              <a:t>Slide 10 of 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280160"/>
            <a:ext cx="512064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46304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7C3AED"/>
                </a:solidFill>
              </a:defRPr>
            </a:pPr>
            <a:r>
              <a:t>AUTONOMOUS POINT SCORING MATRIX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2563EB"/>
                </a:solidFill>
              </a:rPr>
              <a:t>+10 Points  —  </a:t>
            </a:r>
            <a:r>
              <a:rPr sz="1050">
                <a:solidFill>
                  <a:srgbClr val="0F172A"/>
                </a:solidFill>
              </a:rPr>
              <a:t>Publishing an In-Depth Knowledge Article / SOP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2563EB"/>
                </a:solidFill>
              </a:rPr>
              <a:t>+8 Points  —  </a:t>
            </a:r>
            <a:r>
              <a:rPr sz="1050">
                <a:solidFill>
                  <a:srgbClr val="0F172A"/>
                </a:solidFill>
              </a:rPr>
              <a:t>Uploading a Technical Video or Podcast Episode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2563EB"/>
                </a:solidFill>
              </a:rPr>
              <a:t>+2 Points  —  </a:t>
            </a:r>
            <a:r>
              <a:rPr sz="1050">
                <a:solidFill>
                  <a:srgbClr val="0F172A"/>
                </a:solidFill>
              </a:rPr>
              <a:t>Creating a Thought-Leadership Timeline Feed Post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2563EB"/>
                </a:solidFill>
              </a:rPr>
              <a:t>+3 Points  —  </a:t>
            </a:r>
            <a:r>
              <a:rPr sz="1050">
                <a:solidFill>
                  <a:srgbClr val="0F172A"/>
                </a:solidFill>
              </a:rPr>
              <a:t>Receiving a Content Share or Save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2563EB"/>
                </a:solidFill>
              </a:rPr>
              <a:t>+2 Points  —  </a:t>
            </a:r>
            <a:r>
              <a:rPr sz="1050">
                <a:solidFill>
                  <a:srgbClr val="0F172A"/>
                </a:solidFill>
              </a:rPr>
              <a:t>Receiving Helpful Comments on Published Content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2563EB"/>
                </a:solidFill>
              </a:rPr>
              <a:t>+1 Point  —  </a:t>
            </a:r>
            <a:r>
              <a:rPr sz="1050">
                <a:solidFill>
                  <a:srgbClr val="0F172A"/>
                </a:solidFill>
              </a:rPr>
              <a:t>Receiving Content Reactions (Like, Insightful, Claps)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280160"/>
            <a:ext cx="521208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463040"/>
            <a:ext cx="4663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D97706"/>
                </a:solidFill>
              </a:defRPr>
            </a:pPr>
            <a:r>
              <a:t>RECOGNITION TIERS &amp; LEADERBOARDS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B45309"/>
                </a:solidFill>
              </a:rPr>
              <a:t>★ BRONZE (Newbie) (0 – 250 Points): </a:t>
            </a:r>
            <a:r>
              <a:rPr sz="1000">
                <a:solidFill>
                  <a:srgbClr val="64748B"/>
                </a:solidFill>
              </a:rPr>
              <a:t>Initial onboarding status for new joiners engaging with basic timeline posts.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64748B"/>
                </a:solidFill>
              </a:rPr>
              <a:t>★ SILVER (Contributor) (251 – 1,000 Points): </a:t>
            </a:r>
            <a:r>
              <a:rPr sz="1000">
                <a:solidFill>
                  <a:srgbClr val="64748B"/>
                </a:solidFill>
              </a:rPr>
              <a:t>Active contributors publishing technical articles and engaging in discussions.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D97706"/>
                </a:solidFill>
              </a:rPr>
              <a:t>★ GOLD (Expert) (1,001 – 5,000 Points): </a:t>
            </a:r>
            <a:r>
              <a:rPr sz="1000">
                <a:solidFill>
                  <a:srgbClr val="64748B"/>
                </a:solidFill>
              </a:rPr>
              <a:t>Recognized subject matter experts creating video series and SOPs.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7C3AED"/>
                </a:solidFill>
              </a:rPr>
              <a:t>★ PLATINUM (Legend) (5,000+ Points): </a:t>
            </a:r>
            <a:r>
              <a:rPr sz="1000">
                <a:solidFill>
                  <a:srgbClr val="64748B"/>
                </a:solidFill>
              </a:rPr>
              <a:t>Top enterprise technical mentors and departmental thought leaders.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REAL-TIME &amp; COLLABORATION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6984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SignalR WebSocket Engine &amp; Document Protection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6984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Sub-second event streaming, peer-to-peer sharing, and anti-leakage document viewers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00800"/>
            <a:ext cx="10728655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73952"/>
            <a:ext cx="7315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KNOME Enterprise Platform — MPOnline Limited  |  Confidential &amp; Proprietary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73952"/>
            <a:ext cx="1828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 b="1">
                <a:solidFill>
                  <a:srgbClr val="2563EB"/>
                </a:solidFill>
              </a:defRPr>
            </a:pPr>
            <a:r>
              <a:t>Slide 11 of 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280160"/>
            <a:ext cx="512064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46304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2563EB"/>
                </a:solidFill>
              </a:defRPr>
            </a:pPr>
            <a:r>
              <a:t>SIGNALR REAL-TIME NOTIFICATION HUB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2563EB"/>
                </a:solidFill>
              </a:rPr>
              <a:t>⚡ Instant Push Delivery:</a:t>
            </a:r>
            <a:r>
              <a:rPr sz="1000">
                <a:solidFill>
                  <a:srgbClr val="64748B"/>
                </a:solidFill>
              </a:rPr>
              <a:t> Comments, mentions, community invites, and badge promotions delivered instantly via `/hubs/notifications`.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2563EB"/>
                </a:solidFill>
              </a:rPr>
              <a:t>⚡ Strict Chronological LIFO Priority:</a:t>
            </a:r>
            <a:r>
              <a:rPr sz="1000">
                <a:solidFill>
                  <a:srgbClr val="64748B"/>
                </a:solidFill>
              </a:rPr>
              <a:t> Latest incoming notifications are pinned at Index 0 (top of tray) with 'Just now' live timestamps.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2563EB"/>
                </a:solidFill>
              </a:rPr>
              <a:t>⚡ Real-Time Role Unlock:</a:t>
            </a:r>
            <a:r>
              <a:rPr sz="1000">
                <a:solidFill>
                  <a:srgbClr val="64748B"/>
                </a:solidFill>
              </a:rPr>
              <a:t> When an Admin assigns a new role, the user's pending authorization modal clears live without page refresh.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2563EB"/>
                </a:solidFill>
              </a:rPr>
              <a:t>⚡ Zero Polling Overhead:</a:t>
            </a:r>
            <a:r>
              <a:rPr sz="1000">
                <a:solidFill>
                  <a:srgbClr val="64748B"/>
                </a:solidFill>
              </a:rPr>
              <a:t> Persistent WebSocket connection eliminates redundant HTTP polling requests.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280160"/>
            <a:ext cx="521208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463040"/>
            <a:ext cx="4663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0D9488"/>
                </a:solidFill>
              </a:defRPr>
            </a:pPr>
            <a:r>
              <a:t>STANDARDIZED SHARING &amp; DATA PROTECTION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0D9488"/>
                </a:solidFill>
              </a:rPr>
              <a:t>🔒 Unified 2-Option Share Modal:</a:t>
            </a:r>
            <a:r>
              <a:rPr sz="1000">
                <a:solidFill>
                  <a:srgbClr val="64748B"/>
                </a:solidFill>
              </a:rPr>
              <a:t> 1) 'Share to Community' (direct to group feed), 2) 'Share with Users' (targeted peer notification).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0D9488"/>
                </a:solidFill>
              </a:rPr>
              <a:t>🔒 Zero Raw Download Links:</a:t>
            </a:r>
            <a:r>
              <a:rPr sz="1000">
                <a:solidFill>
                  <a:srgbClr val="64748B"/>
                </a:solidFill>
              </a:rPr>
              <a:t> Eliminated direct file links (`target='_blank'`) to prevent unauthorized local file saving.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0D9488"/>
                </a:solidFill>
              </a:rPr>
              <a:t>🔒 Sandboxed PDF Streamer:</a:t>
            </a:r>
            <a:r>
              <a:rPr sz="1000">
                <a:solidFill>
                  <a:srgbClr val="64748B"/>
                </a:solidFill>
              </a:rPr>
              <a:t> Print toolbars and PDF download ribbons suppressed via `#toolbar=0` in-app embed.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0D9488"/>
                </a:solidFill>
              </a:rPr>
              <a:t>🔒 Right-Click &amp; Copy Protection:</a:t>
            </a:r>
            <a:r>
              <a:rPr sz="1000">
                <a:solidFill>
                  <a:srgbClr val="64748B"/>
                </a:solidFill>
              </a:rPr>
              <a:t> Context menus and text selection scraping disabled on sensitive preview modals.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GOVERNANCE &amp;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6984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4-Tier Role-Based Access Control (RBAC)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6984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Fine-grained permissions and security boundaries ensuring administrative integrity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00800"/>
            <a:ext cx="10728655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73952"/>
            <a:ext cx="7315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KNOME Enterprise Platform — MPOnline Limited  |  Confidential &amp; Proprietary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73952"/>
            <a:ext cx="1828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 b="1">
                <a:solidFill>
                  <a:srgbClr val="2563EB"/>
                </a:solidFill>
              </a:defRPr>
            </a:pPr>
            <a:r>
              <a:t>Slide 12 of 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280160"/>
            <a:ext cx="251460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68680" y="1417320"/>
            <a:ext cx="2240280" cy="7772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1150" b="1">
                <a:solidFill>
                  <a:srgbClr val="FFFFFF"/>
                </a:solidFill>
              </a:defRPr>
            </a:pPr>
            <a:r>
              <a:t>Employee (EMP)</a:t>
            </a:r>
          </a:p>
          <a:p>
            <a:pPr algn="ctr">
              <a:defRPr sz="900">
                <a:solidFill>
                  <a:srgbClr val="F1F5F9"/>
                </a:solidFill>
              </a:defRPr>
            </a:pPr>
            <a:r>
              <a:t>Self-Service &amp; Collaboration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331720"/>
            <a:ext cx="22402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000">
                <a:solidFill>
                  <a:srgbClr val="0F172A"/>
                </a:solidFill>
              </a:defRPr>
            </a:pPr>
            <a:r>
              <a:t>• Create &amp; edit personal articles &amp; videos</a:t>
            </a:r>
          </a:p>
          <a:p>
            <a:pPr>
              <a:spcAft>
                <a:spcPts val="700"/>
              </a:spcAft>
              <a:defRPr sz="1000">
                <a:solidFill>
                  <a:srgbClr val="0F172A"/>
                </a:solidFill>
              </a:defRPr>
            </a:pPr>
            <a:r>
              <a:t>• Post timeline updates &amp; engage with peers</a:t>
            </a:r>
          </a:p>
          <a:p>
            <a:pPr>
              <a:spcAft>
                <a:spcPts val="700"/>
              </a:spcAft>
              <a:defRPr sz="1000">
                <a:solidFill>
                  <a:srgbClr val="0F172A"/>
                </a:solidFill>
              </a:defRPr>
            </a:pPr>
            <a:r>
              <a:t>• Request community creation</a:t>
            </a:r>
          </a:p>
          <a:p>
            <a:pPr>
              <a:spcAft>
                <a:spcPts val="700"/>
              </a:spcAft>
              <a:defRPr sz="1000">
                <a:solidFill>
                  <a:srgbClr val="0F172A"/>
                </a:solidFill>
              </a:defRPr>
            </a:pPr>
            <a:r>
              <a:t>• Accumulate karma points &amp; badges</a:t>
            </a:r>
          </a:p>
          <a:p>
            <a:pPr>
              <a:spcAft>
                <a:spcPts val="700"/>
              </a:spcAft>
              <a:defRPr sz="1000">
                <a:solidFill>
                  <a:srgbClr val="0F172A"/>
                </a:solidFill>
              </a:defRPr>
            </a:pPr>
            <a:r>
              <a:t>• View protected technical documentation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29000" y="1280160"/>
            <a:ext cx="251460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566160" y="1417320"/>
            <a:ext cx="2240280" cy="77724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1150" b="1">
                <a:solidFill>
                  <a:srgbClr val="FFFFFF"/>
                </a:solidFill>
              </a:defRPr>
            </a:pPr>
            <a:r>
              <a:t>Community Admin (CADM)</a:t>
            </a:r>
          </a:p>
          <a:p>
            <a:pPr algn="ctr">
              <a:defRPr sz="900">
                <a:solidFill>
                  <a:srgbClr val="F1F5F9"/>
                </a:solidFill>
              </a:defRPr>
            </a:pPr>
            <a:r>
              <a:t>Departmental Space Moderation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2331720"/>
            <a:ext cx="22402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000">
                <a:solidFill>
                  <a:srgbClr val="0F172A"/>
                </a:solidFill>
              </a:defRPr>
            </a:pPr>
            <a:r>
              <a:t>• Manage assigned community spaces</a:t>
            </a:r>
          </a:p>
          <a:p>
            <a:pPr>
              <a:spcAft>
                <a:spcPts val="700"/>
              </a:spcAft>
              <a:defRPr sz="1000">
                <a:solidFill>
                  <a:srgbClr val="0F172A"/>
                </a:solidFill>
              </a:defRPr>
            </a:pPr>
            <a:r>
              <a:t>• Review &amp; approve join requests</a:t>
            </a:r>
          </a:p>
          <a:p>
            <a:pPr>
              <a:spcAft>
                <a:spcPts val="700"/>
              </a:spcAft>
              <a:defRPr sz="1000">
                <a:solidFill>
                  <a:srgbClr val="0F172A"/>
                </a:solidFill>
              </a:defRPr>
            </a:pPr>
            <a:r>
              <a:t>• Pin key announcements &amp; SOPs</a:t>
            </a:r>
          </a:p>
          <a:p>
            <a:pPr>
              <a:spcAft>
                <a:spcPts val="700"/>
              </a:spcAft>
              <a:defRPr sz="1000">
                <a:solidFill>
                  <a:srgbClr val="0F172A"/>
                </a:solidFill>
              </a:defRPr>
            </a:pPr>
            <a:r>
              <a:t>• Moderate discussions &amp; remove spam</a:t>
            </a:r>
          </a:p>
          <a:p>
            <a:pPr>
              <a:spcAft>
                <a:spcPts val="700"/>
              </a:spcAft>
              <a:defRPr sz="1000">
                <a:solidFill>
                  <a:srgbClr val="0F172A"/>
                </a:solidFill>
              </a:defRPr>
            </a:pPr>
            <a:r>
              <a:t>• Configure group rules &amp; banner branding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1280160"/>
            <a:ext cx="251460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63640" y="1417320"/>
            <a:ext cx="2240280" cy="77724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1150" b="1">
                <a:solidFill>
                  <a:srgbClr val="FFFFFF"/>
                </a:solidFill>
              </a:defRPr>
            </a:pPr>
            <a:r>
              <a:t>HR Administrator (HRADM)</a:t>
            </a:r>
          </a:p>
          <a:p>
            <a:pPr algn="ctr">
              <a:defRPr sz="900">
                <a:solidFill>
                  <a:srgbClr val="F1F5F9"/>
                </a:solidFill>
              </a:defRPr>
            </a:pPr>
            <a:r>
              <a:t>Workforce &amp; Content Governance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2331720"/>
            <a:ext cx="22402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000">
                <a:solidFill>
                  <a:srgbClr val="0F172A"/>
                </a:solidFill>
              </a:defRPr>
            </a:pPr>
            <a:r>
              <a:t>• Review &amp; approve community creation queues</a:t>
            </a:r>
          </a:p>
          <a:p>
            <a:pPr>
              <a:spcAft>
                <a:spcPts val="700"/>
              </a:spcAft>
              <a:defRPr sz="1000">
                <a:solidFill>
                  <a:srgbClr val="0F172A"/>
                </a:solidFill>
              </a:defRPr>
            </a:pPr>
            <a:r>
              <a:t>• Assign &amp; approve employee system roles</a:t>
            </a:r>
          </a:p>
          <a:p>
            <a:pPr>
              <a:spcAft>
                <a:spcPts val="700"/>
              </a:spcAft>
              <a:defRPr sz="1000">
                <a:solidFill>
                  <a:srgbClr val="0F172A"/>
                </a:solidFill>
              </a:defRPr>
            </a:pPr>
            <a:r>
              <a:t>• Broadcast company-wide announcements</a:t>
            </a:r>
          </a:p>
          <a:p>
            <a:pPr>
              <a:spcAft>
                <a:spcPts val="700"/>
              </a:spcAft>
              <a:defRPr sz="1000">
                <a:solidFill>
                  <a:srgbClr val="0F172A"/>
                </a:solidFill>
              </a:defRPr>
            </a:pPr>
            <a:r>
              <a:t>• Access live HR analytics &amp; workforce reports</a:t>
            </a:r>
          </a:p>
          <a:p>
            <a:pPr>
              <a:spcAft>
                <a:spcPts val="700"/>
              </a:spcAft>
              <a:defRPr sz="1000">
                <a:solidFill>
                  <a:srgbClr val="0F172A"/>
                </a:solidFill>
              </a:defRPr>
            </a:pPr>
            <a:r>
              <a:t>• Export audit data to Excel / CSV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23960" y="1280160"/>
            <a:ext cx="251460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961120" y="1417320"/>
            <a:ext cx="2240280" cy="77724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1150" b="1">
                <a:solidFill>
                  <a:srgbClr val="FFFFFF"/>
                </a:solidFill>
              </a:defRPr>
            </a:pPr>
            <a:r>
              <a:t>System Administrator (SYSADM)</a:t>
            </a:r>
          </a:p>
          <a:p>
            <a:pPr algn="ctr">
              <a:defRPr sz="900">
                <a:solidFill>
                  <a:srgbClr val="F1F5F9"/>
                </a:solidFill>
              </a:defRPr>
            </a:pPr>
            <a:r>
              <a:t>Platform &amp; Infrastructure Control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0" y="2331720"/>
            <a:ext cx="22402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000">
                <a:solidFill>
                  <a:srgbClr val="0F172A"/>
                </a:solidFill>
              </a:defRPr>
            </a:pPr>
            <a:r>
              <a:t>• Full governance over all platform modules</a:t>
            </a:r>
          </a:p>
          <a:p>
            <a:pPr>
              <a:spcAft>
                <a:spcPts val="700"/>
              </a:spcAft>
              <a:defRPr sz="1000">
                <a:solidFill>
                  <a:srgbClr val="0F172A"/>
                </a:solidFill>
              </a:defRPr>
            </a:pPr>
            <a:r>
              <a:t>• Manage user accounts &amp; active/suspended states</a:t>
            </a:r>
          </a:p>
          <a:p>
            <a:pPr>
              <a:spcAft>
                <a:spcPts val="700"/>
              </a:spcAft>
              <a:defRPr sz="1000">
                <a:solidFill>
                  <a:srgbClr val="0F172A"/>
                </a:solidFill>
              </a:defRPr>
            </a:pPr>
            <a:r>
              <a:t>• Access immutable SQL security audit logs</a:t>
            </a:r>
          </a:p>
          <a:p>
            <a:pPr>
              <a:spcAft>
                <a:spcPts val="700"/>
              </a:spcAft>
              <a:defRPr sz="1000">
                <a:solidFill>
                  <a:srgbClr val="0F172A"/>
                </a:solidFill>
              </a:defRPr>
            </a:pPr>
            <a:r>
              <a:t>• Configure system-wide settings &amp; gateways</a:t>
            </a:r>
          </a:p>
          <a:p>
            <a:pPr>
              <a:spcAft>
                <a:spcPts val="700"/>
              </a:spcAft>
              <a:defRPr sz="1000">
                <a:solidFill>
                  <a:srgbClr val="0F172A"/>
                </a:solidFill>
              </a:defRPr>
            </a:pPr>
            <a:r>
              <a:t>• Manage database scaffolding &amp; API routes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EXECUTIVE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6984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HR Analytics &amp; Workforce Intelligence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6984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100% Live SQL Server aggregated metrics for administrative decision-making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00800"/>
            <a:ext cx="10728655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73952"/>
            <a:ext cx="7315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KNOME Enterprise Platform — MPOnline Limited  |  Confidential &amp; Proprietary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73952"/>
            <a:ext cx="1828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 b="1">
                <a:solidFill>
                  <a:srgbClr val="2563EB"/>
                </a:solidFill>
              </a:defRPr>
            </a:pPr>
            <a:r>
              <a:t>Slide 13 of 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280160"/>
            <a:ext cx="10728655" cy="868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280160"/>
            <a:ext cx="137160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1371600"/>
            <a:ext cx="10241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150">
                <a:solidFill>
                  <a:srgbClr val="2563EB"/>
                </a:solidFill>
              </a:rPr>
              <a:t>RPT-01: User Engagement: </a:t>
            </a:r>
            <a:r>
              <a:rPr sz="1050">
                <a:solidFill>
                  <a:srgbClr val="0F172A"/>
                </a:solidFill>
              </a:rPr>
              <a:t>Total registered workforce, active 30-day users, account suspension status, and company-wide karma distribution across departments.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267712"/>
            <a:ext cx="10728655" cy="868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2267712"/>
            <a:ext cx="137160" cy="8686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2359152"/>
            <a:ext cx="10241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150">
                <a:solidFill>
                  <a:srgbClr val="0D9488"/>
                </a:solidFill>
              </a:rPr>
              <a:t>RPT-02: Community Health: </a:t>
            </a:r>
            <a:r>
              <a:rPr sz="1050">
                <a:solidFill>
                  <a:srgbClr val="0F172A"/>
                </a:solidFill>
              </a:rPr>
              <a:t>Active community spaces, membership growth rates, pending approval queue depth, and group post frequencies.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255264"/>
            <a:ext cx="10728655" cy="868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3255264"/>
            <a:ext cx="137160" cy="8686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3346704"/>
            <a:ext cx="10241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150">
                <a:solidFill>
                  <a:srgbClr val="D97706"/>
                </a:solidFill>
              </a:rPr>
              <a:t>RPT-03: Content Performance: </a:t>
            </a:r>
            <a:r>
              <a:rPr sz="1050">
                <a:solidFill>
                  <a:srgbClr val="0F172A"/>
                </a:solidFill>
              </a:rPr>
              <a:t>Aggregated counts across published articles, video streams, audio podcasts, timeline feed posts, and total peer reactions.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242816"/>
            <a:ext cx="10728655" cy="868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" y="4242816"/>
            <a:ext cx="137160" cy="868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1560" y="4334256"/>
            <a:ext cx="10241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150">
                <a:solidFill>
                  <a:srgbClr val="7C3AED"/>
                </a:solidFill>
              </a:rPr>
              <a:t>RPT-04: Trending Contributors: </a:t>
            </a:r>
            <a:r>
              <a:rPr sz="1050">
                <a:solidFill>
                  <a:srgbClr val="0F172A"/>
                </a:solidFill>
              </a:rPr>
              <a:t>Dynamic leaderboard identifying top departmental knowledge champions and mentors from live karma transaction logs.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5230368"/>
            <a:ext cx="10728655" cy="868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" y="5230368"/>
            <a:ext cx="137160" cy="86868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51560" y="5321808"/>
            <a:ext cx="10241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150">
                <a:solidFill>
                  <a:srgbClr val="E11D48"/>
                </a:solidFill>
              </a:rPr>
              <a:t>RPT-05: Security &amp; Audit Logs: </a:t>
            </a:r>
            <a:r>
              <a:rPr sz="1050">
                <a:solidFill>
                  <a:srgbClr val="0F172A"/>
                </a:solidFill>
              </a:rPr>
              <a:t>Comprehensive tracking of login events, role assignment changes, flagged content moderation logs, and resolution statuses.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DATA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6984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Microsoft SQL Server 2022 Schema &amp; Data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6984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Strict relational integrity, live EF Core 10 scaffolding, and optimized query performance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00800"/>
            <a:ext cx="10728655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73952"/>
            <a:ext cx="7315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KNOME Enterprise Platform — MPOnline Limited  |  Confidential &amp; Proprietary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73952"/>
            <a:ext cx="1828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 b="1">
                <a:solidFill>
                  <a:srgbClr val="2563EB"/>
                </a:solidFill>
              </a:defRPr>
            </a:pPr>
            <a:r>
              <a:t>Slide 14 of 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280160"/>
            <a:ext cx="10728655" cy="1097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417319"/>
            <a:ext cx="10241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2563EB"/>
                </a:solidFill>
              </a:rPr>
              <a:t>Identity &amp; Users  |  </a:t>
            </a:r>
            <a:r>
              <a:rPr b="1" sz="1100">
                <a:solidFill>
                  <a:srgbClr val="0D9488"/>
                </a:solidFill>
              </a:rPr>
              <a:t>dbo.Users, dbo.Roles, dbo.UserRoles, dbo.Departments, dbo.UserConnections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Stores enterprise user profiles, hashed passwords, departmental assignments, and social follow networks.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514600"/>
            <a:ext cx="10728655" cy="1097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2651760"/>
            <a:ext cx="10241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2563EB"/>
                </a:solidFill>
              </a:rPr>
              <a:t>Knowledge &amp; Media  |  </a:t>
            </a:r>
            <a:r>
              <a:rPr b="1" sz="1100">
                <a:solidFill>
                  <a:srgbClr val="0D9488"/>
                </a:solidFill>
              </a:rPr>
              <a:t>dbo.Articles, dbo.ArticleRevisions, dbo.Videos, dbo.Podcasts, dbo.PodcastEpisodes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Houses long-form markdown articles, revision audits, video streaming records, and audio series.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749039"/>
            <a:ext cx="10728655" cy="1097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886200"/>
            <a:ext cx="10241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2563EB"/>
                </a:solidFill>
              </a:rPr>
              <a:t>Communities &amp; Posts  |  </a:t>
            </a:r>
            <a:r>
              <a:rPr b="1" sz="1100">
                <a:solidFill>
                  <a:srgbClr val="0D9488"/>
                </a:solidFill>
              </a:rPr>
              <a:t>dbo.Communities, dbo.CommunityMembers, dbo.Posts, dbo.Comments, dbo.Reactions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Governs departmental collaboration spaces, membership approvals, timeline posts, and thread replies.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983479"/>
            <a:ext cx="10728655" cy="1097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5120640"/>
            <a:ext cx="10241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2563EB"/>
                </a:solidFill>
              </a:rPr>
              <a:t>Gamification &amp; Audits  |  </a:t>
            </a:r>
            <a:r>
              <a:rPr b="1" sz="1100">
                <a:solidFill>
                  <a:srgbClr val="0D9488"/>
                </a:solidFill>
              </a:rPr>
              <a:t>dbo.KarmaTransactions, dbo.Badges, dbo.AuditLogs, dbo.ContentReports, dbo.Notifications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Maintains immutable ledger of point transactions, user badges, SignalR notifications, and security audits.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STRATEGIC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6984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Business Value &amp; ROI for MPOnline Limited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6984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Measurable organizational efficiency, security compliance, and cultural acceleration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00800"/>
            <a:ext cx="10728655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73952"/>
            <a:ext cx="7315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KNOME Enterprise Platform — MPOnline Limited  |  Confidential &amp; Proprietary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73952"/>
            <a:ext cx="1828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 b="1">
                <a:solidFill>
                  <a:srgbClr val="2563EB"/>
                </a:solidFill>
              </a:defRPr>
            </a:pPr>
            <a:r>
              <a:t>Slide 15 of 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280160"/>
            <a:ext cx="5212080" cy="2286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280160"/>
            <a:ext cx="521208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150876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2563EB"/>
                </a:solidFill>
              </a:defRPr>
            </a:pPr>
            <a:r>
              <a:t>40%+ Accelerated Onboarding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New engineers and administrative staff ramp up rapidly by accessing curated video tutorials, technical SOPs, and departmental FAQs in a single searchable portal.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280160"/>
            <a:ext cx="5212080" cy="2286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280160"/>
            <a:ext cx="5212080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150876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D9488"/>
                </a:solidFill>
              </a:defRPr>
            </a:pPr>
            <a:r>
              <a:t>Zero Institutional Knowledge Loss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Critical architectural blueprints and edge-case solutions are permanently captured in the corporate database rather than disappearing when key staff depart.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794760"/>
            <a:ext cx="5212080" cy="2286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3794760"/>
            <a:ext cx="5212080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402336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7C3AED"/>
                </a:solidFill>
              </a:defRPr>
            </a:pPr>
            <a:r>
              <a:t>Heightened Security &amp; Compliance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On-premise SQL Server deployment, sandboxed in-app document viewing with download restrictions, and immutable audit logs ensure complete corporate compliance.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794760"/>
            <a:ext cx="5212080" cy="2286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3794760"/>
            <a:ext cx="521208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402336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D97706"/>
                </a:solidFill>
              </a:defRPr>
            </a:pPr>
            <a:r>
              <a:t>Vibrant Engineering Culture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Gamified karma engine and live leaderboards create a culture of continuous learning, peer recognition, and technical excellence.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EA5E9"/>
                </a:solidFill>
              </a:defRPr>
            </a:pPr>
            <a:r>
              <a:t>KNOME ENTERPRISE PLATFORM</a:t>
            </a:r>
          </a:p>
          <a:p>
            <a:pPr>
              <a:defRPr sz="2800" b="1">
                <a:solidFill>
                  <a:srgbClr val="F1F5F9"/>
                </a:solidFill>
              </a:defRPr>
            </a:pPr>
            <a:r>
              <a:t>Ready for Executive Demonstration &amp; Staging Deployment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286000"/>
            <a:ext cx="3246120" cy="29260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468880"/>
            <a:ext cx="28803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F1F5F9"/>
                </a:solidFill>
              </a:defRPr>
            </a:pPr>
            <a:r>
              <a:t>EmployeeHub SSO Portal</a:t>
            </a:r>
          </a:p>
          <a:p>
            <a:pPr>
              <a:spcAft>
                <a:spcPts val="1200"/>
              </a:spcAft>
              <a:defRPr sz="1050" b="1">
                <a:solidFill>
                  <a:srgbClr val="2563EB"/>
                </a:solidFill>
              </a:defRPr>
            </a:pPr>
            <a:r>
              <a:t>http://localhost:5001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Identity Provider, Centralized Login, Cross-Portal Redirects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2286000"/>
            <a:ext cx="3246120" cy="29260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2468880"/>
            <a:ext cx="28803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F1F5F9"/>
                </a:solidFill>
              </a:defRPr>
            </a:pPr>
            <a:r>
              <a:t>Knome Web Portal</a:t>
            </a:r>
          </a:p>
          <a:p>
            <a:pPr>
              <a:spcAft>
                <a:spcPts val="1200"/>
              </a:spcAft>
              <a:defRPr sz="1050" b="1">
                <a:solidFill>
                  <a:srgbClr val="0D9488"/>
                </a:solidFill>
              </a:defRPr>
            </a:pPr>
            <a:r>
              <a:t>http://localhost:5173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React 19 Frontend, Rich Knowledge Base, Media Studio, Communities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79" y="2286000"/>
            <a:ext cx="3246120" cy="29260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59" y="2468880"/>
            <a:ext cx="28803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F1F5F9"/>
                </a:solidFill>
              </a:defRPr>
            </a:pPr>
            <a:r>
              <a:t>Knome ASP.NET Core API</a:t>
            </a:r>
          </a:p>
          <a:p>
            <a:pPr>
              <a:spcAft>
                <a:spcPts val="1200"/>
              </a:spcAft>
              <a:defRPr sz="1050" b="1">
                <a:solidFill>
                  <a:srgbClr val="7C3AED"/>
                </a:solidFill>
              </a:defRPr>
            </a:pPr>
            <a:r>
              <a:t>http://localhost:5095/swagger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14 REST Controllers, SignalR Hub, Live SQL Database &amp; Swagger Docs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5486400"/>
            <a:ext cx="10362895" cy="7315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1200" b="1">
                <a:solidFill>
                  <a:srgbClr val="0EA5E9"/>
                </a:solidFill>
              </a:defRPr>
            </a:pPr>
            <a:r>
              <a:t>Thank you! Prepared for MPOnline Limited by the Knome Engineering Team.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